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RIP</c:v>
                </c:pt>
              </c:strCache>
            </c:strRef>
          </c:tx>
          <c:spPr>
            <a:solidFill>
              <a:srgbClr val="176A9B"/>
            </a:solidFill>
          </c:spPr>
          <c:dPt>
            <c:idx val="1"/>
            <c:spPr>
              <a:pattFill prst="ltDnDiag">
                <a:fgClr>
                  <a:srgbClr val="176A9B"/>
                </a:fgClr>
                <a:bgClr>
                  <a:srgbClr val="EEF2ED"/>
                </a:bgClr>
              </a:pattFill>
              <a:ln>
                <a:solidFill>
                  <a:srgbClr val="176A9B"/>
                </a:solidFill>
                <a:prstDash val="dash"/>
              </a:ln>
            </c:spPr>
          </c:dPt>
          <c:dPt>
            <c:idx val="2"/>
            <c:spPr>
              <a:pattFill prst="ltDnDiag">
                <a:fgClr>
                  <a:srgbClr val="176A9B"/>
                </a:fgClr>
                <a:bgClr>
                  <a:srgbClr val="EEF2ED"/>
                </a:bgClr>
              </a:pattFill>
              <a:ln>
                <a:solidFill>
                  <a:srgbClr val="176A9B"/>
                </a:solidFill>
                <a:prstDash val="dash"/>
              </a:ln>
            </c:spPr>
          </c:dPt>
          <c:dPt>
            <c:idx val="3"/>
            <c:spPr>
              <a:pattFill prst="ltDnDiag">
                <a:fgClr>
                  <a:srgbClr val="176A9B"/>
                </a:fgClr>
                <a:bgClr>
                  <a:srgbClr val="EEF2ED"/>
                </a:bgClr>
              </a:pattFill>
              <a:ln>
                <a:solidFill>
                  <a:srgbClr val="176A9B"/>
                </a:solidFill>
                <a:prstDash val="dash"/>
              </a:ln>
            </c:spPr>
          </c:dPt>
          <c:cat>
            <c:strRef>
              <c:f>Sheet1!$A$2:$A$5</c:f>
              <c:strCache>
                <c:ptCount val="4"/>
                <c:pt idx="0">
                  <c:v>R1–R2
Measured n=1</c:v>
                </c:pt>
                <c:pt idx="1">
                  <c:v>R2–R3
Assumed</c:v>
                </c:pt>
                <c:pt idx="2">
                  <c:v>R3–R4
Assumed</c:v>
                </c:pt>
                <c:pt idx="3">
                  <c:v>R4–R1
Assumed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</c:v>
                </c:pt>
                <c:pt idx="1">
                  <c:v>24</c:v>
                </c:pt>
                <c:pt idx="2">
                  <c:v>28</c:v>
                </c:pt>
                <c:pt idx="3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OSPF</c:v>
                </c:pt>
              </c:strCache>
            </c:strRef>
          </c:tx>
          <c:spPr>
            <a:solidFill>
              <a:srgbClr val="C6602C"/>
            </a:solidFill>
          </c:spPr>
          <c:dPt>
            <c:idx val="1"/>
            <c:spPr>
              <a:pattFill prst="ltDnDiag">
                <a:fgClr>
                  <a:srgbClr val="C6602C"/>
                </a:fgClr>
                <a:bgClr>
                  <a:srgbClr val="EEF2ED"/>
                </a:bgClr>
              </a:pattFill>
              <a:ln>
                <a:solidFill>
                  <a:srgbClr val="C6602C"/>
                </a:solidFill>
                <a:prstDash val="dash"/>
              </a:ln>
            </c:spPr>
          </c:dPt>
          <c:dPt>
            <c:idx val="2"/>
            <c:spPr>
              <a:pattFill prst="ltDnDiag">
                <a:fgClr>
                  <a:srgbClr val="C6602C"/>
                </a:fgClr>
                <a:bgClr>
                  <a:srgbClr val="EEF2ED"/>
                </a:bgClr>
              </a:pattFill>
              <a:ln>
                <a:solidFill>
                  <a:srgbClr val="C6602C"/>
                </a:solidFill>
                <a:prstDash val="dash"/>
              </a:ln>
            </c:spPr>
          </c:dPt>
          <c:dPt>
            <c:idx val="3"/>
            <c:spPr>
              <a:pattFill prst="ltDnDiag">
                <a:fgClr>
                  <a:srgbClr val="C6602C"/>
                </a:fgClr>
                <a:bgClr>
                  <a:srgbClr val="EEF2ED"/>
                </a:bgClr>
              </a:pattFill>
              <a:ln>
                <a:solidFill>
                  <a:srgbClr val="C6602C"/>
                </a:solidFill>
                <a:prstDash val="dash"/>
              </a:ln>
            </c:spPr>
          </c:dPt>
          <c:cat>
            <c:strRef>
              <c:f>Sheet1!$A$2:$A$5</c:f>
              <c:strCache>
                <c:ptCount val="4"/>
                <c:pt idx="0">
                  <c:v>R1–R2
Measured n=1</c:v>
                </c:pt>
                <c:pt idx="1">
                  <c:v>R2–R3
Assumed</c:v>
                </c:pt>
                <c:pt idx="2">
                  <c:v>R3–R4
Assumed</c:v>
                </c:pt>
                <c:pt idx="3">
                  <c:v>R4–R1
Assumed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</c:v>
                </c:pt>
                <c:pt idx="1">
                  <c:v>6</c:v>
                </c:pt>
                <c:pt idx="2">
                  <c:v>8</c:v>
                </c:pt>
                <c:pt idx="3">
                  <c:v>7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5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ptos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Apto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Official project title appears on slide. Team in ascending register number. Faculty: Dr. Sreethar S, Associate Professor Grade 1. State that the dashboard replays completed Packet Tracer experiments and includes three assumed link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redundancy versus recovery. This is a controlled educational comparison. Do not claim a general ranking from single runs. Protocol mechanisms: RFC2453 https://www.rfc-editor.org/info/rfc2453/ and RFC2328 https://www.rfc-editor.org/info/rfc2328/.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Primary sources [1] RFC2453, [2] RFC2328, [3] RFC1058. Administrative distances are visible in route screenshots. No new routing protocol was developed. Default timer discussion belongs to theory, not a measured timing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Novelty is modest: reproducible evidence organisation, a clearly bounded metric and an evidence-linked offline dashboard. It is not an original protocol and does not claim to outperform research literature.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evidence image E06 from CNPj34.docx. Ring R1-R2-R3-R4-R1; no diagonal. Actual masks and endpoint interfaces are in the report and interactive inspector. A failed router’s own LAN is not gateway-redundant. Saved files are version9.0.1.0858; CPU Intel Core Ultra5 125H, current system designated by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Phase3.2: stop at the first reply followed by another successful reply. Phase3.4 limitation is reproduced verbatim in report/dashboard/README; reaction approx0.3–1s is guide-stated uncertainty. No rerun or new measurement is claimed. PC capture accepts ping -t destination; IOS syntax differs.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performed router-failure experiment differs from guide PC2→PC4. Preserve actual PC1→PC3/R4 case. All original images are retained losslessly. Assumed cases have run_count0 and blank evidence IDs. Measurements are n1; absence of numeric OCRT for no-loss OSPF is not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is editable. Source CNPj34 table: R1R2 26/7s MEASURED n1; R2R3 24/6s ASSUMED; R3R4 28/8s ASSUMED; R4R1 25/7s ASSUMED. Assumed (estimated – not measured) applies to every estimate and derived summary. Per-link reductions73.08% measured-single-run,75%,71.43%,72% Assumed. Average25.75/7=3.6786; reduction of averages72.8155%. These are four-case descriptive summaries, not repeated-trial means. E28/E31 prove cumulative routes, not durations. Each screenshot is Recorded evidence (Packet Tracer).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Recorded evidence (Packet Tracer), CNPj34 ExpB/C tables, E07/E20/E23/E37 routes. Opposite LAN routes were equal-cost via R2/R4. Already forwarding via R2 is an unverified explanation for no-loss OSPF. OSPF C timing refers to TTL/path change, not outage OCRT. E22 excluded. No loss count/percentage is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original Packet Tracer screenshots in the player carry Recorded evidence (Packet Tracer) labels. The dashboard itself is an offline presentation of those experiments, not a live simulator. Test screenshot: Testing/dashboard_experiment_player.png. HTML/CSS/vanillaJS with Chart.js4.4.8. Data/results.csv is canonical. Explain data.js, app.js, generate_charts.py and validate_data.py.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Assumed (estimated – not measured) values are not independent experimental corroboration. Average across supplied mixed-status cases is not repeated-trial mean. Future repeated trials would justify mean±SD; none is claimed now. BFD, tuned timers, EIGRP and multi-area OSPF are possible future extensions, not implemented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References: [1] G. Malkin, “RIP Version 2,” RFC 2453, Nov. 1998, doi:10.17487/RFC2453. https://www.rfc-editor.org/info/rfc2453/</a:t>
            </a:r>
          </a:p>
          <a:p>
            <a:r>
              <a:t>[2] J. Moy, “OSPF Version 2,” RFC 2328, Apr. 1998, doi:10.17487/RFC2328. https://www.rfc-editor.org/info/rfc2328/</a:t>
            </a:r>
          </a:p>
          <a:p>
            <a:r>
              <a:t>[3] C. Hedrick, “Routing Information Protocol,” RFC 1058, Jun. 1988, doi:10.17487/RFC1058. https://www.rfc-editor.org/info/rfc1058/</a:t>
            </a:r>
          </a:p>
          <a:p>
            <a:r>
              <a:t>[4] Cisco, “Cisco IOS IP Routing: RIP Command Reference: RIP Commands,” online documentation, accessed Oct.26,2026. https://www.cisco.com/c/en/us/td/docs/ios/iproute_rip/command/reference/irr_book/irr_rip.html</a:t>
            </a:r>
          </a:p>
          <a:p>
            <a:r>
              <a:t>[5] Cisco, “IP Routing: OSPF Configuration Guide, Cisco IOS XE Release 2,” online documentation, accessed Oct.26,2026. https://www.cisco.com/c/en/us/td/docs/ios-xml/ios/iproute_ospf/configuration/xe-2/iro-xe-2-book.pdf</a:t>
            </a:r>
          </a:p>
          <a:p>
            <a:r>
              <a:t>Conclusion only for the observed single-run link comparison. Faculty Dr.Sreethar S. Both members must explain the data policy and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75488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7333F"/>
                </a:solidFill>
                <a:latin typeface="Aptos"/>
              </a:defRPr>
            </a:pPr>
            <a:r>
              <a:t>Fault-Tolerant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73952"/>
            <a:ext cx="8229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973"/>
                </a:solidFill>
                <a:latin typeface="Aptos"/>
              </a:defRPr>
            </a:pPr>
            <a:r>
              <a:t>BCSE308P · F1 Team21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55664"/>
            <a:ext cx="457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97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63040"/>
            <a:ext cx="10881360" cy="1645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3300" b="0">
                <a:solidFill>
                  <a:srgbClr val="17333F"/>
                </a:solidFill>
                <a:latin typeface="Aptos"/>
              </a:defRPr>
            </a:pPr>
            <a:r>
              <a:t>Performance Comparison of RIP and OSPF</a:t>
            </a:r>
          </a:p>
          <a:p>
            <a:pPr>
              <a:spcAft>
                <a:spcPts val="900"/>
              </a:spcAft>
              <a:defRPr sz="3300" b="0">
                <a:solidFill>
                  <a:srgbClr val="17333F"/>
                </a:solidFill>
                <a:latin typeface="Aptos"/>
              </a:defRPr>
            </a:pPr>
            <a:r>
              <a:t>Convergence Under Network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539496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7333F"/>
                </a:solidFill>
                <a:latin typeface="Aptos"/>
              </a:defRPr>
            </a:pPr>
            <a:r>
              <a:t>Harshith Reddy V · 24BCE2479</a:t>
            </a:r>
          </a:p>
          <a:p>
            <a:pPr>
              <a:spcAft>
                <a:spcPts val="900"/>
              </a:spcAft>
              <a:defRPr sz="2000" b="1">
                <a:solidFill>
                  <a:srgbClr val="17333F"/>
                </a:solidFill>
                <a:latin typeface="Aptos"/>
              </a:defRPr>
            </a:pPr>
            <a:r>
              <a:t>B.Tech Computer Science 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657600"/>
            <a:ext cx="5212080" cy="1417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7333F"/>
                </a:solidFill>
                <a:latin typeface="Aptos"/>
              </a:defRPr>
            </a:pPr>
            <a:r>
              <a:t>Sinchana B Kurkuri · 24BDS0352</a:t>
            </a:r>
          </a:p>
          <a:p>
            <a:pPr>
              <a:spcAft>
                <a:spcPts val="900"/>
              </a:spcAft>
              <a:defRPr sz="2000" b="1">
                <a:solidFill>
                  <a:srgbClr val="17333F"/>
                </a:solidFill>
                <a:latin typeface="Aptos"/>
              </a:defRPr>
            </a:pPr>
            <a:r>
              <a:t>B.Tech Computer Science and Engineering (Data Science)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78992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536973"/>
                </a:solidFill>
                <a:latin typeface="Aptos"/>
              </a:defRPr>
            </a:pPr>
            <a:r>
              <a:t>VIT Vellore · Fall Semester 2026-27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75488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7333F"/>
                </a:solidFill>
                <a:latin typeface="Aptos"/>
              </a:defRPr>
            </a:pPr>
            <a:r>
              <a:t>Problem and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73952"/>
            <a:ext cx="8229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973"/>
                </a:solidFill>
                <a:latin typeface="Aptos"/>
              </a:defRPr>
            </a:pPr>
            <a:r>
              <a:t>BCSE308P · F1 Team21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55664"/>
            <a:ext cx="457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97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607040" cy="10058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7333F"/>
                </a:solidFill>
                <a:latin typeface="Aptos"/>
              </a:defRPr>
            </a:pPr>
            <a:r>
              <a:t>A surviving physical path does not guarantee uninterrupted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6675120" cy="2468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17333F"/>
                </a:solidFill>
                <a:latin typeface="Aptos"/>
              </a:defRPr>
            </a:pPr>
            <a:r>
              <a:t>A failure changes the usable topology. Routers must recognise the change and select a route.</a:t>
            </a:r>
          </a:p>
          <a:p>
            <a:pPr>
              <a:spcAft>
                <a:spcPts val="900"/>
              </a:spcAft>
              <a:defRPr sz="2300" b="0">
                <a:solidFill>
                  <a:srgbClr val="17333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2300" b="0">
                <a:solidFill>
                  <a:srgbClr val="17333F"/>
                </a:solidFill>
                <a:latin typeface="Aptos"/>
              </a:defRPr>
            </a:pPr>
            <a:r>
              <a:t>The lab question: how did RIP and OSPF behave on the same four-router ring?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743200"/>
            <a:ext cx="3108960" cy="2651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536973"/>
                </a:solidFill>
                <a:latin typeface="Aptos"/>
              </a:defRPr>
            </a:pPr>
            <a:r>
              <a:t>Observed service recovery</a:t>
            </a:r>
          </a:p>
          <a:p>
            <a:pPr>
              <a:spcAft>
                <a:spcPts val="900"/>
              </a:spcAft>
              <a:defRPr sz="2200" b="0">
                <a:solidFill>
                  <a:srgbClr val="536973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2200" b="0">
                <a:solidFill>
                  <a:srgbClr val="536973"/>
                </a:solidFill>
                <a:latin typeface="Aptos"/>
              </a:defRPr>
            </a:pPr>
            <a:r>
              <a:t>Route changes</a:t>
            </a:r>
          </a:p>
          <a:p>
            <a:pPr>
              <a:spcAft>
                <a:spcPts val="900"/>
              </a:spcAft>
              <a:defRPr sz="2200" b="0">
                <a:solidFill>
                  <a:srgbClr val="536973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2200" b="0">
                <a:solidFill>
                  <a:srgbClr val="536973"/>
                </a:solidFill>
                <a:latin typeface="Aptos"/>
              </a:defRPr>
            </a:pPr>
            <a:r>
              <a:t>Evidence and uncertainty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75488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7333F"/>
                </a:solidFill>
                <a:latin typeface="Aptos"/>
              </a:defRPr>
            </a:pPr>
            <a:r>
              <a:t>Existing protocols and the comparison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73952"/>
            <a:ext cx="8229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973"/>
                </a:solidFill>
                <a:latin typeface="Aptos"/>
              </a:defRPr>
            </a:pPr>
            <a:r>
              <a:t>BCSE308P · F1 Team21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55664"/>
            <a:ext cx="457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973"/>
                </a:solidFill>
                <a:latin typeface="Aptos"/>
              </a:defRPr>
            </a:pPr>
            <a:r>
              <a:t>03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08760"/>
          <a:ext cx="1088136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840480"/>
                <a:gridCol w="4206240"/>
              </a:tblGrid>
              <a:tr h="676656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Property</a:t>
                      </a:r>
                    </a:p>
                  </a:txBody>
                  <a:tcPr marL="109728" marR="109728" marT="91440" marB="91440" anchor="ctr">
                    <a:solidFill>
                      <a:srgbClr val="173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RIPv2</a:t>
                      </a:r>
                    </a:p>
                  </a:txBody>
                  <a:tcPr marL="109728" marR="109728" marT="91440" marB="91440" anchor="ctr">
                    <a:solidFill>
                      <a:srgbClr val="173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OSPFv2</a:t>
                      </a:r>
                    </a:p>
                  </a:txBody>
                  <a:tcPr marL="109728" marR="109728" marT="91440" marB="91440" anchor="ctr">
                    <a:solidFill>
                      <a:srgbClr val="17333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Mechanism</a:t>
                      </a:r>
                    </a:p>
                  </a:txBody>
                  <a:tcPr marL="109728" marR="109728" marT="91440" marB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Distance vector</a:t>
                      </a:r>
                    </a:p>
                  </a:txBody>
                  <a:tcPr marL="109728" marR="109728" marT="91440" marB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Link state and SPF</a:t>
                      </a:r>
                    </a:p>
                  </a:txBody>
                  <a:tcPr marL="109728" marR="109728" marT="91440" marB="91440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109728" marR="109728" marT="91440" marB="91440" anchor="ctr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Hop count</a:t>
                      </a:r>
                    </a:p>
                  </a:txBody>
                  <a:tcPr marL="109728" marR="109728" marT="91440" marB="91440" anchor="ctr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Cumulative cost</a:t>
                      </a:r>
                    </a:p>
                  </a:txBody>
                  <a:tcPr marL="109728" marR="109728" marT="91440" marB="91440" anchor="ctr">
                    <a:solidFill>
                      <a:srgbClr val="EAF0EE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Recorded AD</a:t>
                      </a:r>
                    </a:p>
                  </a:txBody>
                  <a:tcPr marL="109728" marR="109728" marT="91440" marB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120</a:t>
                      </a:r>
                    </a:p>
                  </a:txBody>
                  <a:tcPr marL="109728" marR="109728" marT="91440" marB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110</a:t>
                      </a:r>
                    </a:p>
                  </a:txBody>
                  <a:tcPr marL="109728" marR="109728" marT="91440" marB="91440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Saved scope</a:t>
                      </a:r>
                    </a:p>
                  </a:txBody>
                  <a:tcPr marL="109728" marR="109728" marT="91440" marB="91440" anchor="ctr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Version 2; no auto-summary</a:t>
                      </a:r>
                    </a:p>
                  </a:txBody>
                  <a:tcPr marL="109728" marR="109728" marT="91440" marB="91440" anchor="ctr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Process 1; area 0</a:t>
                      </a:r>
                    </a:p>
                  </a:txBody>
                  <a:tcPr marL="109728" marR="109728" marT="91440" marB="91440" anchor="ctr">
                    <a:solidFill>
                      <a:srgbClr val="EAF0E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257800"/>
            <a:ext cx="1060704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536973"/>
                </a:solidFill>
                <a:latin typeface="Aptos"/>
              </a:defRPr>
            </a:pPr>
            <a:r>
              <a:t>Specifications explain mechanisms. Our recordings show this topology’s behaviour. Neither establishes repeatability from one timed run.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75488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7333F"/>
                </a:solidFill>
                <a:latin typeface="Aptos"/>
              </a:defRPr>
            </a:pPr>
            <a:r>
              <a:t>Objectives and educational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73952"/>
            <a:ext cx="8229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973"/>
                </a:solidFill>
                <a:latin typeface="Aptos"/>
              </a:defRPr>
            </a:pPr>
            <a:r>
              <a:t>BCSE308P · F1 Team21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55664"/>
            <a:ext cx="457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97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60704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2600" b="1">
                <a:solidFill>
                  <a:srgbClr val="17333F"/>
                </a:solidFill>
                <a:latin typeface="Aptos"/>
              </a:defRPr>
            </a:pPr>
            <a:r>
              <a:t>Compare the same topology and addressing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1042416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  <a:r>
              <a:t>Verify before, alternate and restored routes. Retain the recorded timing values and their provenance.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83280"/>
            <a:ext cx="1060704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2600" b="1">
                <a:solidFill>
                  <a:srgbClr val="17333F"/>
                </a:solidFill>
                <a:latin typeface="Aptos"/>
              </a:defRPr>
            </a:pPr>
            <a:r>
              <a:t>Define the timing 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69080"/>
            <a:ext cx="1042416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  <a:r>
              <a:t>Use OCRT for observed end-to-end recovery, with explicit stopwatch and simulator limitations.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074920"/>
            <a:ext cx="1060704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2600" b="1">
                <a:solidFill>
                  <a:srgbClr val="17333F"/>
                </a:solidFill>
                <a:latin typeface="Aptos"/>
              </a:defRPr>
            </a:pPr>
            <a:r>
              <a:t>Make the evidence inspectable offline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669280"/>
            <a:ext cx="104241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7333F"/>
                </a:solidFill>
                <a:latin typeface="Aptos"/>
              </a:defRPr>
            </a:pPr>
            <a:r>
              <a:t>Present recorded screenshots, assumed estimates and illustrative paths with distinct labels.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75488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7333F"/>
                </a:solidFill>
                <a:latin typeface="Aptos"/>
              </a:defRPr>
            </a:pPr>
            <a:r>
              <a:t>Topology and verified addressing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73952"/>
            <a:ext cx="8229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973"/>
                </a:solidFill>
                <a:latin typeface="Aptos"/>
              </a:defRPr>
            </a:pPr>
            <a:r>
              <a:t>BCSE308P · F1 Team21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55664"/>
            <a:ext cx="457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973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5" name="Picture 4" descr="topology_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49" y="1371600"/>
            <a:ext cx="7246581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645920"/>
            <a:ext cx="3291840" cy="3611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  <a:r>
              <a:t>4 × Cisco 2911</a:t>
            </a: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  <a:r>
              <a:t>4 × Cisco 2960-24TT</a:t>
            </a: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  <a:r>
              <a:t>4 × PC-PT</a:t>
            </a: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  <a:r>
              <a:t>/30 transit links</a:t>
            </a: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  <a:r>
              <a:t>/24 LANs</a:t>
            </a: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  <a:r>
              <a:t>PC .10, gateway 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989320"/>
            <a:ext cx="107899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536973"/>
                </a:solidFill>
                <a:latin typeface="Aptos"/>
              </a:defRPr>
            </a:pPr>
            <a:r>
              <a:t>Recorded evidence (Packet Tracer) · E06. Addresses verified separately against saved .pkt files.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75488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7333F"/>
                </a:solidFill>
                <a:latin typeface="Aptos"/>
              </a:defRPr>
            </a:pPr>
            <a:r>
              <a:t>Methodology and OCRT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73952"/>
            <a:ext cx="8229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973"/>
                </a:solidFill>
                <a:latin typeface="Aptos"/>
              </a:defRPr>
            </a:pPr>
            <a:r>
              <a:t>BCSE308P · F1 Team21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55664"/>
            <a:ext cx="457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97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035040" cy="4297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  <a:r>
              <a:t>1  Verify the route and start PC ping</a:t>
            </a: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  <a:r>
              <a:t>2  Trigger failure and start stopwatch</a:t>
            </a: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  <a:r>
              <a:t>3  Wait for consecutive successful replies</a:t>
            </a: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  <a:r>
              <a:t>4  Preserve route and ping evidence</a:t>
            </a: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  <a:r>
              <a:t>5  Restore the failed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554480"/>
            <a:ext cx="4023360" cy="10058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7333F"/>
                </a:solidFill>
                <a:latin typeface="Aptos"/>
              </a:defRPr>
            </a:pPr>
            <a:r>
              <a:t>Observed Connectivity</a:t>
            </a:r>
          </a:p>
          <a:p>
            <a:pPr>
              <a:spcAft>
                <a:spcPts val="900"/>
              </a:spcAft>
              <a:defRPr sz="2700" b="1">
                <a:solidFill>
                  <a:srgbClr val="17333F"/>
                </a:solidFill>
                <a:latin typeface="Aptos"/>
              </a:defRPr>
            </a:pPr>
            <a:r>
              <a:t>Recovery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2834640"/>
            <a:ext cx="4023360" cy="2377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7333F"/>
                </a:solidFill>
                <a:latin typeface="Aptos"/>
              </a:defRPr>
            </a:pPr>
            <a:r>
              <a:t>From failure trigger until replies become consistently successful.</a:t>
            </a:r>
          </a:p>
          <a:p>
            <a:pPr>
              <a:spcAft>
                <a:spcPts val="900"/>
              </a:spcAft>
              <a:defRPr sz="2100" b="0">
                <a:solidFill>
                  <a:srgbClr val="17333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2100" b="0">
                <a:solidFill>
                  <a:srgbClr val="17333F"/>
                </a:solidFill>
                <a:latin typeface="Aptos"/>
              </a:defRPr>
            </a:pPr>
            <a:r>
              <a:t>Includes human reaction, detection, routing, ARP and simulator processing.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97880"/>
            <a:ext cx="107899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536973"/>
                </a:solidFill>
                <a:latin typeface="Aptos"/>
              </a:defRPr>
            </a:pPr>
            <a:r>
              <a:t>External stopwatch. Not ping RTT or a timeout-count calculation.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75488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7333F"/>
                </a:solidFill>
                <a:latin typeface="Aptos"/>
              </a:defRPr>
            </a:pPr>
            <a:r>
              <a:t>Scenarios and data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73952"/>
            <a:ext cx="8229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973"/>
                </a:solidFill>
                <a:latin typeface="Aptos"/>
              </a:defRPr>
            </a:pPr>
            <a:r>
              <a:t>BCSE308P · F1 Team21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55664"/>
            <a:ext cx="457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973"/>
                </a:solidFill>
                <a:latin typeface="Aptos"/>
              </a:defRPr>
            </a:pPr>
            <a:r>
              <a:t>07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08760"/>
          <a:ext cx="1088136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657600"/>
                <a:gridCol w="5303520"/>
              </a:tblGrid>
              <a:tr h="722376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Case</a:t>
                      </a:r>
                    </a:p>
                  </a:txBody>
                  <a:tcPr marL="109728" marR="109728" marT="91440" marB="91440" anchor="ctr">
                    <a:solidFill>
                      <a:srgbClr val="173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Traffic / action</a:t>
                      </a:r>
                    </a:p>
                  </a:txBody>
                  <a:tcPr marL="109728" marR="109728" marT="91440" marB="91440" anchor="ctr">
                    <a:solidFill>
                      <a:srgbClr val="173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Available observation</a:t>
                      </a:r>
                    </a:p>
                  </a:txBody>
                  <a:tcPr marL="109728" marR="109728" marT="91440" marB="91440" anchor="ctr">
                    <a:solidFill>
                      <a:srgbClr val="17333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A: R1–R2</a:t>
                      </a:r>
                    </a:p>
                  </a:txBody>
                  <a:tcPr marL="109728" marR="109728" marT="91440" marB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PC1 to PC2; G0/0 shutdown</a:t>
                      </a:r>
                    </a:p>
                  </a:txBody>
                  <a:tcPr marL="109728" marR="109728" marT="91440" marB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Measured single-run timing and route change</a:t>
                      </a:r>
                    </a:p>
                  </a:txBody>
                  <a:tcPr marL="109728" marR="109728" marT="91440" marB="91440" anchor="ctr"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Other three links</a:t>
                      </a:r>
                    </a:p>
                  </a:txBody>
                  <a:tcPr marL="109728" marR="109728" marT="91440" marB="91440" anchor="ctr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R2–R3, R3–R4, R4–R1</a:t>
                      </a:r>
                    </a:p>
                  </a:txBody>
                  <a:tcPr marL="109728" marR="109728" marT="91440" marB="91440" anchor="ctr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Assumed (estimated – not measured)</a:t>
                      </a:r>
                    </a:p>
                  </a:txBody>
                  <a:tcPr marL="109728" marR="109728" marT="91440" marB="91440" anchor="ctr">
                    <a:solidFill>
                      <a:srgbClr val="EAF0EE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B: R4 off</a:t>
                      </a:r>
                    </a:p>
                  </a:txBody>
                  <a:tcPr marL="109728" marR="109728" marT="91440" marB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PC1 to PC3; router power-off</a:t>
                      </a:r>
                    </a:p>
                  </a:txBody>
                  <a:tcPr marL="109728" marR="109728" marT="91440" marB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RIP later run; OSPF earlier run</a:t>
                      </a:r>
                    </a:p>
                  </a:txBody>
                  <a:tcPr marL="109728" marR="109728" marT="91440" marB="91440" anchor="ctr"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C: link restored</a:t>
                      </a:r>
                    </a:p>
                  </a:txBody>
                  <a:tcPr marL="109728" marR="109728" marT="91440" marB="91440" anchor="ctr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R1–R2 re-enabled</a:t>
                      </a:r>
                    </a:p>
                  </a:txBody>
                  <a:tcPr marL="109728" marR="109728" marT="91440" marB="91440" anchor="ctr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Route return; OSPF TTL/path interval</a:t>
                      </a:r>
                    </a:p>
                  </a:txBody>
                  <a:tcPr marL="109728" marR="109728" marT="91440" marB="91440" anchor="ctr">
                    <a:solidFill>
                      <a:srgbClr val="EAF0E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532120"/>
            <a:ext cx="1069848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536973"/>
                </a:solidFill>
                <a:latin typeface="Aptos"/>
              </a:defRPr>
            </a:pPr>
            <a:r>
              <a:t>No completed ping summaries. No repeated-trial dataset. Image E22 remains needs-confirmation and is excluded as restoration proof.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75488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7333F"/>
                </a:solidFill>
                <a:latin typeface="Aptos"/>
              </a:defRPr>
            </a:pPr>
            <a:r>
              <a:t>Link failure: recorded and assumed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73952"/>
            <a:ext cx="8229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973"/>
                </a:solidFill>
                <a:latin typeface="Aptos"/>
              </a:defRPr>
            </a:pPr>
            <a:r>
              <a:t>BCSE308P · F1 Team21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55664"/>
            <a:ext cx="457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973"/>
                </a:solidFill>
                <a:latin typeface="Aptos"/>
              </a:defRPr>
            </a:pPr>
            <a:r>
              <a:t>08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508760"/>
          <a:ext cx="7315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6" name="Picture 5" descr="ospf_A_01_route_bef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577497"/>
            <a:ext cx="3337560" cy="7769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2542032"/>
            <a:ext cx="333756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7333F"/>
                </a:solidFill>
                <a:latin typeface="Aptos"/>
              </a:defRPr>
            </a:pPr>
            <a:r>
              <a:t>Recorded before: OSPF cost 2</a:t>
            </a:r>
          </a:p>
        </p:txBody>
      </p:sp>
      <p:pic>
        <p:nvPicPr>
          <p:cNvPr id="8" name="Picture 7" descr="ospf_A_04_route_af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354560"/>
            <a:ext cx="3337560" cy="7889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4343400"/>
            <a:ext cx="333756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7333F"/>
                </a:solidFill>
                <a:latin typeface="Aptos"/>
              </a:defRPr>
            </a:pPr>
            <a:r>
              <a:t>Recorded after: OSPF cost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74920"/>
            <a:ext cx="1078992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895A14"/>
                </a:solidFill>
                <a:latin typeface="Aptos"/>
              </a:defRPr>
            </a:pPr>
            <a:r>
              <a:t>Hatched bars: Assumed (estimated – not measured). Solid bars: recorded R1–R2 single runs.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715000"/>
            <a:ext cx="1078992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7333F"/>
                </a:solidFill>
                <a:latin typeface="Aptos"/>
              </a:defRPr>
            </a:pPr>
            <a:r>
              <a:t>Four-link descriptive averages, including three Assumed links: RIP 25.75 s / OSPF 7.00 s. Reduction of averages 72.82%. No statistical claim.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75488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7333F"/>
                </a:solidFill>
                <a:latin typeface="Aptos"/>
              </a:defRPr>
            </a:pPr>
            <a:r>
              <a:t>Router failure and restoration require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73952"/>
            <a:ext cx="8229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973"/>
                </a:solidFill>
                <a:latin typeface="Aptos"/>
              </a:defRPr>
            </a:pPr>
            <a:r>
              <a:t>BCSE308P · F1 Team21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55664"/>
            <a:ext cx="457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973"/>
                </a:solidFill>
                <a:latin typeface="Aptos"/>
              </a:defRPr>
            </a:pPr>
            <a:r>
              <a:t>09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0876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657600"/>
                <a:gridCol w="4023360"/>
              </a:tblGrid>
              <a:tr h="80010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Observation</a:t>
                      </a:r>
                    </a:p>
                  </a:txBody>
                  <a:tcPr marL="109728" marR="109728" marT="91440" marB="91440" anchor="ctr">
                    <a:solidFill>
                      <a:srgbClr val="173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RIP</a:t>
                      </a:r>
                    </a:p>
                  </a:txBody>
                  <a:tcPr marL="109728" marR="109728" marT="91440" marB="91440" anchor="ctr">
                    <a:solidFill>
                      <a:srgbClr val="173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OSPF</a:t>
                      </a:r>
                    </a:p>
                  </a:txBody>
                  <a:tcPr marL="109728" marR="109728" marT="91440" marB="91440" anchor="ctr">
                    <a:solidFill>
                      <a:srgbClr val="17333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R4 off, PC1 to PC3</a:t>
                      </a:r>
                    </a:p>
                  </a:txBody>
                  <a:tcPr marL="109728" marR="109728" marT="91440" marB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≈11 s in later run</a:t>
                      </a:r>
                    </a:p>
                  </a:txBody>
                  <a:tcPr marL="109728" marR="109728" marT="91440" marB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Earlier run: no loss observed; OCRT not measurable</a:t>
                      </a:r>
                    </a:p>
                  </a:txBody>
                  <a:tcPr marL="109728" marR="109728" marT="91440" marB="9144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Route after R4 off</a:t>
                      </a:r>
                    </a:p>
                  </a:txBody>
                  <a:tcPr marL="109728" marR="109728" marT="91440" marB="91440" anchor="ctr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Via R2, hop metric 2</a:t>
                      </a:r>
                    </a:p>
                  </a:txBody>
                  <a:tcPr marL="109728" marR="109728" marT="91440" marB="91440" anchor="ctr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Via R2, cost 3</a:t>
                      </a:r>
                    </a:p>
                  </a:txBody>
                  <a:tcPr marL="109728" marR="109728" marT="91440" marB="91440" anchor="ctr">
                    <a:solidFill>
                      <a:srgbClr val="EAF0E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R1–R2 restored</a:t>
                      </a:r>
                    </a:p>
                  </a:txBody>
                  <a:tcPr marL="109728" marR="109728" marT="91440" marB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Route returned; timing unreliable</a:t>
                      </a:r>
                    </a:p>
                  </a:txBody>
                  <a:tcPr marL="109728" marR="109728" marT="91440" marB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333F"/>
                          </a:solidFill>
                          <a:latin typeface="Aptos"/>
                        </a:defRPr>
                      </a:pPr>
                      <a:r>
                        <a:t>≈11 s to TTL 124–126 path change</a:t>
                      </a:r>
                    </a:p>
                  </a:txBody>
                  <a:tcPr marL="109728" marR="109728" marT="91440" marB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120640"/>
            <a:ext cx="1078992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17333F"/>
                </a:solidFill>
                <a:latin typeface="Aptos"/>
              </a:defRPr>
            </a:pPr>
            <a:r>
              <a:t>Unlike earlier/later router-failure runs are not directly comparable. No-loss OSPF is never a zero-second recovery measurement.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75488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7333F"/>
                </a:solidFill>
                <a:latin typeface="Aptos"/>
              </a:defRPr>
            </a:pPr>
            <a:r>
              <a:t>Offline dashboard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73952"/>
            <a:ext cx="8229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973"/>
                </a:solidFill>
                <a:latin typeface="Aptos"/>
              </a:defRPr>
            </a:pPr>
            <a:r>
              <a:t>BCSE308P · F1 Team21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55664"/>
            <a:ext cx="457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973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5" name="Picture 4" descr="dashboard_experiment_p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" y="1417320"/>
            <a:ext cx="7285939" cy="45537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61120" y="1554480"/>
            <a:ext cx="2606040" cy="4251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7333F"/>
                </a:solidFill>
                <a:latin typeface="Aptos"/>
              </a:defRPr>
            </a:pPr>
            <a:r>
              <a:t>Open index.html</a:t>
            </a:r>
          </a:p>
          <a:p>
            <a:pPr>
              <a:spcAft>
                <a:spcPts val="900"/>
              </a:spcAft>
              <a:defRPr sz="2000" b="0">
                <a:solidFill>
                  <a:srgbClr val="17333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2000" b="0">
                <a:solidFill>
                  <a:srgbClr val="17333F"/>
                </a:solidFill>
                <a:latin typeface="Aptos"/>
              </a:defRPr>
            </a:pPr>
            <a:r>
              <a:t>Select protocol and scenario</a:t>
            </a:r>
          </a:p>
          <a:p>
            <a:pPr>
              <a:spcAft>
                <a:spcPts val="900"/>
              </a:spcAft>
              <a:defRPr sz="2000" b="0">
                <a:solidFill>
                  <a:srgbClr val="17333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2000" b="0">
                <a:solidFill>
                  <a:srgbClr val="17333F"/>
                </a:solidFill>
                <a:latin typeface="Aptos"/>
              </a:defRPr>
            </a:pPr>
            <a:r>
              <a:t>Step through evidence</a:t>
            </a:r>
          </a:p>
          <a:p>
            <a:pPr>
              <a:spcAft>
                <a:spcPts val="900"/>
              </a:spcAft>
              <a:defRPr sz="2000" b="0">
                <a:solidFill>
                  <a:srgbClr val="17333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2000" b="0">
                <a:solidFill>
                  <a:srgbClr val="17333F"/>
                </a:solidFill>
                <a:latin typeface="Aptos"/>
              </a:defRPr>
            </a:pPr>
            <a:r>
              <a:t>Toggle Assumed values</a:t>
            </a:r>
          </a:p>
          <a:p>
            <a:pPr>
              <a:spcAft>
                <a:spcPts val="900"/>
              </a:spcAft>
              <a:defRPr sz="2000" b="0">
                <a:solidFill>
                  <a:srgbClr val="17333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2000" b="0">
                <a:solidFill>
                  <a:srgbClr val="17333F"/>
                </a:solidFill>
                <a:latin typeface="Aptos"/>
              </a:defRPr>
            </a:pPr>
            <a:r>
              <a:t>Inspect source screenshots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0"/>
            <a:ext cx="107899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36973"/>
                </a:solidFill>
                <a:latin typeface="Aptos"/>
              </a:defRPr>
            </a:pPr>
            <a:r>
              <a:t>Illustrative animation – not simulation evidence. Screenshot of the tested offline frontend.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75488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7333F"/>
                </a:solidFill>
                <a:latin typeface="Aptos"/>
              </a:defRPr>
            </a:pPr>
            <a:r>
              <a:t>Limitations and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73952"/>
            <a:ext cx="8229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973"/>
                </a:solidFill>
                <a:latin typeface="Aptos"/>
              </a:defRPr>
            </a:pPr>
            <a:r>
              <a:t>BCSE308P · F1 Team21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55664"/>
            <a:ext cx="457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97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52120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7333F"/>
                </a:solidFill>
                <a:latin typeface="Aptos"/>
              </a:defRPr>
            </a:pPr>
            <a:r>
              <a:t>Current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5212080" cy="3611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  <a:r>
              <a:t>Single timed runs</a:t>
            </a: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  <a:r>
              <a:t>Three Assumed link estimates</a:t>
            </a: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  <a:r>
              <a:t>Unlike router-failure runs</a:t>
            </a: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  <a:r>
              <a:t>Stopwatch and simulator effects</a:t>
            </a: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  <a:r>
              <a:t>Missing completed ping summaries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1206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7333F"/>
                </a:solidFill>
                <a:latin typeface="Aptos"/>
              </a:defRPr>
            </a:pPr>
            <a:r>
              <a:t>Next controlled experiments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5120640" cy="3611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  <a:r>
              <a:t>Time all four links individually</a:t>
            </a: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  <a:r>
              <a:t>Repeat matched trials at least ten times</a:t>
            </a: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  <a:r>
              <a:t>Automate timestamp collection</a:t>
            </a: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  <a:r>
              <a:t>Verify active forwarding paths</a:t>
            </a: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2200" b="0">
                <a:solidFill>
                  <a:srgbClr val="17333F"/>
                </a:solidFill>
                <a:latin typeface="Aptos"/>
              </a:defRPr>
            </a:pPr>
            <a:r>
              <a:t>Compare emulated or real routers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75488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7333F"/>
                </a:solidFill>
                <a:latin typeface="Aptos"/>
              </a:defRPr>
            </a:pPr>
            <a:r>
              <a:t>Conclusion and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73952"/>
            <a:ext cx="8229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973"/>
                </a:solidFill>
                <a:latin typeface="Aptos"/>
              </a:defRPr>
            </a:pPr>
            <a:r>
              <a:t>BCSE308P · F1 Team21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55664"/>
            <a:ext cx="457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697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69848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7333F"/>
                </a:solidFill>
                <a:latin typeface="Aptos"/>
              </a:defRPr>
            </a:pPr>
            <a:r>
              <a:t>The measured R1–R2 runs favour OSPF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23160"/>
            <a:ext cx="10698480" cy="10058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17333F"/>
                </a:solidFill>
                <a:latin typeface="Aptos"/>
              </a:defRPr>
            </a:pPr>
            <a:r>
              <a:t>≈26 s RIP versus ≈7 s OSPF OCRT, single run each. Both protocols used an alternate ring route and returned to the preferred route after restoration.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57600"/>
            <a:ext cx="1069848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536973"/>
                </a:solidFill>
                <a:latin typeface="Aptos"/>
              </a:defRPr>
            </a:pPr>
            <a:r>
              <a:t>The four-link descriptive average includes three Assumed estimates. Stronger claims need individually timed, repeated and matched experiments.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074920"/>
            <a:ext cx="10698480" cy="10058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7333F"/>
                </a:solidFill>
                <a:latin typeface="Aptos"/>
              </a:defRPr>
            </a:pPr>
            <a:r>
              <a:t>Primary references</a:t>
            </a:r>
          </a:p>
          <a:p>
            <a:pPr>
              <a:spcAft>
                <a:spcPts val="900"/>
              </a:spcAft>
              <a:defRPr sz="1800" b="0">
                <a:solidFill>
                  <a:srgbClr val="17333F"/>
                </a:solidFill>
                <a:latin typeface="Aptos"/>
              </a:defRPr>
            </a:pPr>
            <a:r>
              <a:t>[1] Malkin, RFC 2453, 1998   [2] Moy, RFC 2328, 1998</a:t>
            </a:r>
          </a:p>
          <a:p>
            <a:pPr>
              <a:spcAft>
                <a:spcPts val="900"/>
              </a:spcAft>
              <a:defRPr sz="1800" b="0">
                <a:solidFill>
                  <a:srgbClr val="17333F"/>
                </a:solidFill>
                <a:latin typeface="Aptos"/>
              </a:defRPr>
            </a:pPr>
            <a:r>
              <a:t>[3] Hedrick, RFC 1058, 1988   [4–5] Cisco RIP / OSPF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Fault-Tolerant Routing: Performance Comparison of RIP and OSPF Convergence Under Network Failures</dc:title>
  <dc:subject/>
  <dc:creator>Harshith Reddy V; Sinchana B Kurkuri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